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557" r:id="rId2"/>
    <p:sldId id="515" r:id="rId3"/>
    <p:sldId id="513" r:id="rId4"/>
    <p:sldId id="567" r:id="rId5"/>
    <p:sldId id="514" r:id="rId6"/>
    <p:sldId id="565" r:id="rId7"/>
    <p:sldId id="568" r:id="rId8"/>
    <p:sldId id="569" r:id="rId9"/>
    <p:sldId id="570" r:id="rId10"/>
    <p:sldId id="571" r:id="rId11"/>
    <p:sldId id="572" r:id="rId12"/>
    <p:sldId id="518" r:id="rId13"/>
    <p:sldId id="558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1CDD41-40B4-53E1-5C85-10550CA9F7EC}" v="217" dt="2025-09-16T10:46:52.961"/>
    <p1510:client id="{6A65DE88-65EF-2F38-6F66-1E187C310B58}" v="423" dt="2025-09-16T08:07:06.720"/>
    <p1510:client id="{D59B1E90-7E27-BDA1-60E6-D1AB6DD6C679}" v="1" dt="2025-09-16T09:19:45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265" autoAdjust="0"/>
    <p:restoredTop sz="94773" autoAdjust="0"/>
  </p:normalViewPr>
  <p:slideViewPr>
    <p:cSldViewPr showGuides="1">
      <p:cViewPr varScale="1">
        <p:scale>
          <a:sx n="85" d="100"/>
          <a:sy n="85" d="100"/>
        </p:scale>
        <p:origin x="797" y="62"/>
      </p:cViewPr>
      <p:guideLst>
        <p:guide orient="horz" pos="2160"/>
        <p:guide pos="28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604BC-4ADF-48CD-939B-D354326C432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0D685-5C80-4F12-B9D0-618AB74BD3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NMAP or Network Mapper is a </a:t>
            </a:r>
            <a:r>
              <a:rPr lang="en-IN" altLang="en-US"/>
              <a:t>network reconissence </a:t>
            </a:r>
            <a:r>
              <a:rPr lang="en-US" altLang="en-US"/>
              <a:t>tool used to scan networks to find active hosts or devices in that network and search for known vulnerabilities.</a:t>
            </a:r>
            <a:br>
              <a:rPr lang="en-US" altLang="en-US"/>
            </a:br>
            <a:r>
              <a:rPr lang="en-US" altLang="en-US"/>
              <a:t>Use Nmap to identify open ports &amp; services.</a:t>
            </a:r>
          </a:p>
          <a:p>
            <a:r>
              <a:rPr lang="en-US" altLang="en-US"/>
              <a:t>Use Nessus to detect known vulnerabilities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91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9525" y="6053141"/>
            <a:ext cx="2249091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58628" y="6043618"/>
            <a:ext cx="6785372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50">
                <a:solidFill>
                  <a:srgbClr val="FFFFFF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15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2/9/2019</a:t>
            </a:r>
            <a:endParaRPr lang="en-US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40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8247BE2-61CD-463C-AD78-643FCA7B2A77}" type="slidenum">
              <a:rPr lang="en-US">
                <a:solidFill>
                  <a:srgbClr val="424456"/>
                </a:solidFill>
              </a:rPr>
              <a:t>‹#›</a:t>
            </a:fld>
            <a:endParaRPr lang="en-US" dirty="0">
              <a:solidFill>
                <a:srgbClr val="424456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8BBDA1B-EB2C-49E2-A1CF-4342CA4EF36C}" type="slidenum">
              <a:rPr lang="en-US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2" y="2743204"/>
            <a:ext cx="7123113" cy="1673225"/>
          </a:xfrm>
        </p:spPr>
        <p:txBody>
          <a:bodyPr/>
          <a:lstStyle>
            <a:lvl1pPr>
              <a:buNone/>
              <a:defRPr sz="210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33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1"/>
            <a:ext cx="1295400" cy="701675"/>
          </a:xfrm>
        </p:spPr>
        <p:txBody>
          <a:bodyPr>
            <a:no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66A1CEC-9DD6-4F71-8FF7-224B44B36D75}" type="slidenum">
              <a:rPr lang="en-US"/>
              <a:t>‹#›</a:t>
            </a:fld>
            <a:endParaRPr lang="en-US" dirty="0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D9237E2-D6D8-4F93-B4E7-7A3A919C426E}" type="slidenum">
              <a:rPr lang="en-US"/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3"/>
            <a:ext cx="8153400" cy="86995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15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dirty="0"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4194F72-16B3-45E5-89BA-A531D9C6F909}" type="slidenum">
              <a:rPr lang="en-US"/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D1442FA-41D6-4256-AB11-698261B17F2A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A9458CC-7BDB-4AF7-84A8-156B462129CE}" type="slidenum">
              <a:rPr lang="en-US">
                <a:solidFill>
                  <a:srgbClr val="424456"/>
                </a:solidFill>
              </a:rPr>
              <a:t>‹#›</a:t>
            </a:fld>
            <a:endParaRPr lang="en-US" dirty="0">
              <a:solidFill>
                <a:srgbClr val="424456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m_glob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72" y="1755775"/>
            <a:ext cx="1614488" cy="1689100"/>
          </a:xfrm>
          <a:prstGeom prst="rect">
            <a:avLst/>
          </a:prstGeom>
          <a:noFill/>
          <a:ln w="50800" cap="sq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3"/>
            <a:ext cx="8077200" cy="869951"/>
          </a:xfrm>
        </p:spPr>
        <p:txBody>
          <a:bodyPr/>
          <a:lstStyle>
            <a:lvl1pPr algn="l">
              <a:buNone/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AC466F-202A-449E-ABD9-88FA7D413812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3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279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44247" y="4654551"/>
            <a:ext cx="7599759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 bwMode="white">
          <a:xfrm>
            <a:off x="1447806" y="4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275"/>
            </a:lvl1pPr>
            <a:lvl2pPr>
              <a:buFontTx/>
              <a:buNone/>
              <a:defRPr sz="900"/>
            </a:lvl2pPr>
            <a:lvl3pPr>
              <a:buFontTx/>
              <a:buNone/>
              <a:defRPr sz="750"/>
            </a:lvl3pPr>
            <a:lvl4pPr>
              <a:buFontTx/>
              <a:buNone/>
              <a:defRPr sz="675"/>
            </a:lvl4pPr>
            <a:lvl5pPr>
              <a:buFontTx/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1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4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5"/>
            <a:ext cx="1447800" cy="663575"/>
          </a:xfrm>
        </p:spPr>
        <p:txBody>
          <a:bodyPr rtlCol="0"/>
          <a:lstStyle>
            <a:lvl1pPr>
              <a:defRPr sz="21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8110B99-22AD-4655-8E97-9D99EF66D449}" type="slidenum">
              <a:rPr lang="en-US"/>
              <a:t>‹#›</a:t>
            </a:fld>
            <a:endParaRPr lang="en-US" dirty="0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4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  <a:endParaRPr lang="en-US" dirty="0">
              <a:solidFill>
                <a:srgbClr val="424456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720B14-E841-43C9-B349-AC4B576B0B80}" type="slidenum">
              <a:rPr lang="en-US">
                <a:solidFill>
                  <a:srgbClr val="424456"/>
                </a:solidFill>
              </a:rPr>
              <a:t>‹#›</a:t>
            </a:fld>
            <a:endParaRPr lang="en-US" sz="10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6" y="0"/>
            <a:ext cx="320279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42435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42435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5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3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4"/>
            <a:ext cx="2209800" cy="3651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4"/>
            <a:ext cx="5573316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439" y="144665"/>
            <a:ext cx="533400" cy="24407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ABE1C5-EE8B-4BC6-9CA6-2359143DF2B8}" type="slidenum">
              <a:rPr lang="en-US">
                <a:solidFill>
                  <a:srgbClr val="424456"/>
                </a:solidFill>
              </a:rPr>
              <a:t>‹#›</a:t>
            </a:fld>
            <a:endParaRPr lang="en-US" sz="10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20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4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8C804-4DE3-41CC-98C1-05EC14125A5B}" type="slidenum">
              <a:rPr lang="en-US">
                <a:solidFill>
                  <a:srgbClr val="424456"/>
                </a:solidFill>
              </a:rPr>
              <a:t>‹#›</a:t>
            </a:fld>
            <a:endParaRPr lang="en-US">
              <a:solidFill>
                <a:srgbClr val="424456"/>
              </a:solidFill>
            </a:endParaRPr>
          </a:p>
        </p:txBody>
      </p:sp>
    </p:spTree>
  </p:cSld>
  <p:clrMapOvr>
    <a:masterClrMapping/>
  </p:clrMapOvr>
  <p:transition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m_globe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172" y="1755775"/>
            <a:ext cx="1614488" cy="1689100"/>
          </a:xfrm>
          <a:prstGeom prst="rect">
            <a:avLst/>
          </a:prstGeom>
          <a:noFill/>
          <a:ln w="50800" cap="sq" cmpd="dbl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1"/>
          </a:xfrm>
        </p:spPr>
        <p:txBody>
          <a:bodyPr/>
          <a:lstStyle>
            <a:lvl1pPr algn="l">
              <a:buNone/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1AC466F-202A-449E-ABD9-88FA7D413812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2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3172" y="1600201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4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50" dirty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2/9/2019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4"/>
            <a:ext cx="5420916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5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>
                <a:solidFill>
                  <a:srgbClr val="424456"/>
                </a:solidFill>
              </a:rPr>
              <a:t>By: Tekendra Nath Yogi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9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 b="1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683ACCE-3850-4732-B3C7-553D9AFBE5E7}" type="slidenum">
              <a:rPr lang="en-US">
                <a:solidFill>
                  <a:srgbClr val="424456"/>
                </a:solidFill>
              </a:rPr>
              <a:t>‹#›</a:t>
            </a:fld>
            <a:endParaRPr lang="en-US" dirty="0">
              <a:solidFill>
                <a:srgbClr val="42445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anose="020B0602020104020603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anose="020B0602020104020603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anose="020B0602020104020603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anose="020B0602020104020603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anose="020B0602020104020603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anose="020B0602020104020603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anose="020B0602020104020603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Tw Cen MT" panose="020B0602020104020603" pitchFamily="34" charset="0"/>
        </a:defRPr>
      </a:lvl9pPr>
    </p:titleStyle>
    <p:bodyStyle>
      <a:lvl1pPr marL="239395" indent="-239395" algn="l" rtl="0" eaLnBrk="0" fontAlgn="base" hangingPunct="0">
        <a:spcBef>
          <a:spcPts val="525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175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indent="-205105" algn="l" rtl="0" eaLnBrk="0" fontAlgn="base" hangingPunct="0">
        <a:spcBef>
          <a:spcPts val="415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145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172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-171450" algn="l" rtl="0" eaLnBrk="0" fontAlgn="base" hangingPunct="0">
        <a:spcBef>
          <a:spcPts val="300"/>
        </a:spcBef>
        <a:spcAft>
          <a:spcPct val="0"/>
        </a:spcAft>
        <a:buClr>
          <a:srgbClr val="A04DA3"/>
        </a:buClr>
        <a:buSzPct val="7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71450" algn="l" rtl="0" eaLnBrk="0" fontAlgn="base" hangingPunct="0">
        <a:spcBef>
          <a:spcPts val="300"/>
        </a:spcBef>
        <a:spcAft>
          <a:spcPct val="0"/>
        </a:spcAft>
        <a:buClr>
          <a:srgbClr val="C4652D"/>
        </a:buClr>
        <a:buSzPct val="65000"/>
        <a:buFont typeface="Wingdings" panose="05000000000000000000" pitchFamily="2" charset="2"/>
        <a:buChar char="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577340" indent="-171450" algn="l" rtl="0" eaLnBrk="1" latinLnBrk="0" hangingPunct="1">
        <a:spcBef>
          <a:spcPct val="20000"/>
        </a:spcBef>
        <a:buClr>
          <a:schemeClr val="accent1"/>
        </a:buClr>
        <a:buFont typeface="Wingdings" panose="05000000000000000000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71450" algn="l" rtl="0" eaLnBrk="1" latinLnBrk="0" hangingPunct="1">
        <a:spcBef>
          <a:spcPct val="20000"/>
        </a:spcBef>
        <a:buClr>
          <a:schemeClr val="accent2"/>
        </a:buClr>
        <a:buFont typeface="Wingdings" panose="05000000000000000000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988820" indent="-171450" algn="l" rtl="0" eaLnBrk="1" latinLnBrk="0" hangingPunct="1">
        <a:spcBef>
          <a:spcPct val="20000"/>
        </a:spcBef>
        <a:buClr>
          <a:schemeClr val="accent3"/>
        </a:buClr>
        <a:buFont typeface="Wingdings" panose="05000000000000000000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71450" algn="l" rtl="0" eaLnBrk="1" latinLnBrk="0" hangingPunct="1">
        <a:spcBef>
          <a:spcPct val="20000"/>
        </a:spcBef>
        <a:buClr>
          <a:schemeClr val="accent4"/>
        </a:buClr>
        <a:buFont typeface="Wingdings" panose="05000000000000000000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hlinkClick r:id="" action="ppaction://ole?verb=0"/>
          </p:cNvPr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69563189"/>
              </p:ext>
            </p:extLst>
          </p:nvPr>
        </p:nvGraphicFramePr>
        <p:xfrm>
          <a:off x="0" y="-227013"/>
          <a:ext cx="9753600" cy="7312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3982276" imgH="2985795" progId="PowerPoint.Show.12">
                  <p:embed/>
                </p:oleObj>
              </mc:Choice>
              <mc:Fallback>
                <p:oleObj name="Presentation" r:id="rId2" imgW="3982276" imgH="2985795" progId="PowerPoint.Show.12">
                  <p:embed/>
                  <p:pic>
                    <p:nvPicPr>
                      <p:cNvPr id="5" name="Content Placeholder 4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-227013"/>
                        <a:ext cx="9753600" cy="73120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Course Outcomes</a:t>
            </a:r>
            <a:endParaRPr lang="en-US" altLang="en-US" sz="32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t>2</a:t>
            </a:fld>
            <a:endParaRPr lang="en-US" altLang="en-US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266700" y="1639115"/>
          <a:ext cx="8499348" cy="45168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7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27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 Outcomes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7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CO1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marL="271780" marR="0" indent="0" algn="l" rtl="0" ea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altLang="en-US" sz="1800" kern="12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 network scanning and vulnerability assessment using tools like Nmap and Nessus.</a:t>
                      </a:r>
                      <a:endParaRPr lang="en-US" sz="180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CO2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marL="271780" marR="0" indent="0" algn="l" rtl="0" ea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Execute ethical hacking techniques using frameworks such as Metasploit and Hydra to exploit system weaknesses.</a:t>
                      </a:r>
                      <a:endParaRPr lang="en-US" sz="180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8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CO3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marL="271780" marR="0" indent="0" algn="l" rtl="0" ea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Analyze network traffic and identify threats using Wireshark and related sniffing tools.</a:t>
                      </a:r>
                      <a:endParaRPr lang="en-US" sz="180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7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CO4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marL="271780" marR="0" indent="0" algn="l" rtl="0" ea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Configure and manage firewalls and intrusion detection systems like pfSense and Snort to secure networks.</a:t>
                      </a:r>
                      <a:endParaRPr lang="en-US" sz="180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7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CO5</a:t>
                      </a:r>
                      <a:endParaRPr lang="en-US" sz="1800" dirty="0"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17780" marR="17780" marT="17780" marB="17780" anchor="ctr"/>
                </a:tc>
                <a:tc>
                  <a:txBody>
                    <a:bodyPr/>
                    <a:lstStyle/>
                    <a:p>
                      <a:pPr marL="271780" marR="0" indent="0" algn="l" rtl="0" eaLnBrk="1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2228850" algn="l"/>
                        </a:tabLst>
                      </a:pPr>
                      <a:r>
                        <a:rPr lang="en-US" altLang="en-US" sz="1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Conduct reconnaissance and threat mapping using OSINT tools and frameworks like MITRE ATT&amp;CK, and simulate phishing attacks to understand attack methodologies.</a:t>
                      </a:r>
                      <a:endParaRPr lang="en-US" sz="1800" kern="12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8153400" cy="738352"/>
          </a:xfrm>
        </p:spPr>
        <p:txBody>
          <a:bodyPr/>
          <a:lstStyle/>
          <a:p>
            <a:pPr algn="ctr"/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Experiments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/>
          <a:srcRect t="1496"/>
          <a:stretch>
            <a:fillRect/>
          </a:stretch>
        </p:blipFill>
        <p:spPr>
          <a:xfrm>
            <a:off x="609600" y="1524000"/>
            <a:ext cx="8376920" cy="5017135"/>
          </a:xfrm>
          <a:prstGeom prst="rect">
            <a:avLst/>
          </a:prstGeom>
          <a:ln>
            <a:noFill/>
          </a:ln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t>3</a:t>
            </a:fld>
            <a:endParaRPr lang="en-US" altLang="en-US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1371600" y="2743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t="2196"/>
          <a:stretch>
            <a:fillRect/>
          </a:stretch>
        </p:blipFill>
        <p:spPr>
          <a:xfrm>
            <a:off x="581660" y="1752600"/>
            <a:ext cx="8358505" cy="3789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599" y="337768"/>
            <a:ext cx="8153400" cy="717330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and Evaluation Plan</a:t>
            </a:r>
            <a:endParaRPr lang="en-US" altLang="en-US" sz="3200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fld id="{F8D28E11-6266-47C4-B1CE-C6D99AC79DCA}" type="slidenum">
              <a:rPr lang="en-US" altLang="en-US"/>
              <a:t>5</a:t>
            </a:fld>
            <a:endParaRPr lang="en-US" altLang="en-US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2686050" y="3209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IN" altLang="en-US"/>
          </a:p>
        </p:txBody>
      </p:sp>
      <p:sp>
        <p:nvSpPr>
          <p:cNvPr id="3" name="Content Placeholder 2"/>
          <p:cNvSpPr txBox="1"/>
          <p:nvPr/>
        </p:nvSpPr>
        <p:spPr bwMode="auto">
          <a:xfrm>
            <a:off x="609599" y="1589567"/>
            <a:ext cx="7956331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239395" indent="-239395" algn="l" rtl="0" eaLnBrk="0" fontAlgn="base" hangingPunct="0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0060" indent="-205105" algn="l" rtl="0" eaLnBrk="0" fontAlgn="base" hangingPunct="0">
              <a:spcBef>
                <a:spcPts val="415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Tools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 txBox="1"/>
          <p:nvPr/>
        </p:nvSpPr>
        <p:spPr>
          <a:xfrm>
            <a:off x="5029199" y="1589567"/>
            <a:ext cx="3701901" cy="4572000"/>
          </a:xfrm>
          <a:prstGeom prst="rect">
            <a:avLst/>
          </a:prstGeom>
        </p:spPr>
        <p:txBody>
          <a:bodyPr>
            <a:normAutofit/>
          </a:bodyPr>
          <a:lstStyle>
            <a:lvl1pPr marL="239395" indent="-239395" algn="l" rtl="0" eaLnBrk="0" fontAlgn="base" hangingPunct="0">
              <a:spcBef>
                <a:spcPts val="525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1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0060" indent="-205105" algn="l" rtl="0" eaLnBrk="0" fontAlgn="base" hangingPunct="0">
              <a:spcBef>
                <a:spcPts val="415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1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17145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17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A04DA3"/>
              </a:buClr>
              <a:buSzPct val="7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17145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C4652D"/>
              </a:buClr>
              <a:buSzPct val="65000"/>
              <a:buFont typeface="Wingdings" panose="05000000000000000000" pitchFamily="2" charset="2"/>
              <a:buChar char="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77340" indent="-17145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 panose="05000000000000000000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88820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 panose="05000000000000000000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7145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 panose="05000000000000000000"/>
              <a:buChar char="§"/>
              <a:defRPr sz="135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marks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2000" b="1" dirty="0">
                <a:latin typeface="Times New Roman"/>
                <a:cs typeface="Times New Roman"/>
              </a:rPr>
              <a:t>Experiment 7:-  </a:t>
            </a:r>
            <a:r>
              <a:rPr lang="en-US" altLang="en-US" sz="2000" b="1" dirty="0">
                <a:latin typeface="Times New Roman"/>
                <a:cs typeface="Times New Roman"/>
              </a:rPr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5D37A1-F68C-BAD2-275D-6C77FB414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279" y="361918"/>
            <a:ext cx="6332769" cy="7810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E548BD-092B-5A6B-A65C-6E53F5482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1600201"/>
            <a:ext cx="7391400" cy="5105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ACFE-BC3D-D3EB-C7B2-1A942E92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Step-by-Step Procedure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187BCA-E704-BDE0-609E-E449BBA0E12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612648" y="1600200"/>
            <a:ext cx="7769351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4834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1ED40-5FE0-888F-A1AF-B055E82D811A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612648" y="1524000"/>
            <a:ext cx="7997952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1589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72C0-06CC-7D98-774D-8FCD1C3F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Expected Outputs (Samples)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B753AD-F87F-604A-49C2-37C08D00433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914400" y="1676400"/>
            <a:ext cx="7315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435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1453-D5BB-A655-FB6E-A6DB4703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These Tools?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2FE833-81EC-F822-BE88-3EB4EC40C75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639542" y="1662953"/>
            <a:ext cx="7696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9198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BA78-8F45-B5EE-370D-CBE498D6B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25E484-1312-5473-CCAD-25680A7928D8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 bwMode="auto">
          <a:xfrm>
            <a:off x="612648" y="1905000"/>
            <a:ext cx="784555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5332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Reflective Questions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708660" y="1568450"/>
            <a:ext cx="8096885" cy="5029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sz="quarter" idx="1"/>
          </p:nvPr>
        </p:nvSpPr>
        <p:spPr bwMode="auto">
          <a:xfrm>
            <a:off x="612648" y="2012938"/>
            <a:ext cx="7997826" cy="4049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lab, students set up a cybersecurity ecosystem using Kali Linux (attacker) and Metasploitable 2 (victim) inside VirtualBox.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Nmap was used to identify open ports and services running on the target machine.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Nessus was used to scan for known vulnerabilities based on these services.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learned how attackers move from reconnaissance (Nmap) to exploitation opportunities (Nessus findings).</a:t>
            </a:r>
          </a:p>
          <a:p>
            <a:pPr>
              <a:buFont typeface="Wingdings" panose="05000000000000000000" charset="0"/>
              <a:buChar char="Ø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 showed the importance of patching vulnerable services, restricting unnecessary open ports, and running continuous vulnerability scans in real-world networks.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4028" y="2043665"/>
            <a:ext cx="4578895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AcademicPresentation3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6228</TotalTime>
  <Words>267</Words>
  <Application>Microsoft Office PowerPoint</Application>
  <PresentationFormat>On-screen Show (4:3)</PresentationFormat>
  <Paragraphs>36</Paragraphs>
  <Slides>14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Times New Roman</vt:lpstr>
      <vt:lpstr>Tw Cen MT</vt:lpstr>
      <vt:lpstr>Wingdings</vt:lpstr>
      <vt:lpstr>Wingdings 2</vt:lpstr>
      <vt:lpstr>1_AcademicPresentation3</vt:lpstr>
      <vt:lpstr>Microsoft PowerPoint Presentation</vt:lpstr>
      <vt:lpstr>PowerPoint Presentation</vt:lpstr>
      <vt:lpstr>Course Outcomes</vt:lpstr>
      <vt:lpstr>List of Experiments</vt:lpstr>
      <vt:lpstr>PowerPoint Presentation</vt:lpstr>
      <vt:lpstr>Assessment and Evaluation Plan</vt:lpstr>
      <vt:lpstr>Experiment 7:-   </vt:lpstr>
      <vt:lpstr>Step-by-Step Procedure</vt:lpstr>
      <vt:lpstr>PowerPoint Presentation</vt:lpstr>
      <vt:lpstr>Expected Outputs (Samples)</vt:lpstr>
      <vt:lpstr>Why These Tools?</vt:lpstr>
      <vt:lpstr>Conclusion</vt:lpstr>
      <vt:lpstr>Reflective Questions</vt:lpstr>
      <vt:lpstr>Summarize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Richa Vij</cp:lastModifiedBy>
  <cp:revision>921</cp:revision>
  <dcterms:created xsi:type="dcterms:W3CDTF">2021-11-08T09:09:00Z</dcterms:created>
  <dcterms:modified xsi:type="dcterms:W3CDTF">2025-11-25T16:06:44Z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4DFB4357073B4AF2A445BA29F086EF94_12</vt:lpwstr>
  </property>
  <property fmtid="{D5CDD505-2E9C-101B-9397-08002B2CF9AE}" pid="3" name="KSOProductBuildVer">
    <vt:lpwstr>1033-12.2.0.21931</vt:lpwstr>
  </property>
</Properties>
</file>